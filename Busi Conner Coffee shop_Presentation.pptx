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2" r:id="rId7"/>
    <p:sldId id="261"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85" d="100"/>
          <a:sy n="85" d="100"/>
        </p:scale>
        <p:origin x="1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11/1/2025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35678-5119-4668-8DF1-C1FAA8C6788E}"/>
              </a:ext>
            </a:extLst>
          </p:cNvPr>
          <p:cNvSpPr>
            <a:spLocks noGrp="1"/>
          </p:cNvSpPr>
          <p:nvPr>
            <p:ph type="ctrTitle"/>
          </p:nvPr>
        </p:nvSpPr>
        <p:spPr/>
        <p:txBody>
          <a:bodyPr/>
          <a:lstStyle/>
          <a:p>
            <a:r>
              <a:rPr lang="en-US" dirty="0" err="1"/>
              <a:t>Busi’s</a:t>
            </a:r>
            <a:r>
              <a:rPr lang="en-US" dirty="0"/>
              <a:t> Conner Coffee shop </a:t>
            </a:r>
            <a:endParaRPr lang="en-ZA" dirty="0"/>
          </a:p>
        </p:txBody>
      </p:sp>
      <p:sp>
        <p:nvSpPr>
          <p:cNvPr id="3" name="Subtitle 2">
            <a:extLst>
              <a:ext uri="{FF2B5EF4-FFF2-40B4-BE49-F238E27FC236}">
                <a16:creationId xmlns:a16="http://schemas.microsoft.com/office/drawing/2014/main" id="{BF3E9D91-4BA2-46E7-A85C-6F91CFBA47A8}"/>
              </a:ext>
            </a:extLst>
          </p:cNvPr>
          <p:cNvSpPr>
            <a:spLocks noGrp="1"/>
          </p:cNvSpPr>
          <p:nvPr>
            <p:ph type="subTitle" idx="1"/>
          </p:nvPr>
        </p:nvSpPr>
        <p:spPr/>
        <p:txBody>
          <a:bodyPr/>
          <a:lstStyle/>
          <a:p>
            <a:r>
              <a:rPr lang="en-US" dirty="0"/>
              <a:t>Presented by Nolan Mamathuba _ Coffee shop Analysis October 2025 </a:t>
            </a:r>
            <a:endParaRPr lang="en-ZA" dirty="0"/>
          </a:p>
        </p:txBody>
      </p:sp>
    </p:spTree>
    <p:extLst>
      <p:ext uri="{BB962C8B-B14F-4D97-AF65-F5344CB8AC3E}">
        <p14:creationId xmlns:p14="http://schemas.microsoft.com/office/powerpoint/2010/main" val="3758389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834DA-1E6B-49E3-9B28-A7EFDF12B614}"/>
              </a:ext>
            </a:extLst>
          </p:cNvPr>
          <p:cNvSpPr>
            <a:spLocks noGrp="1"/>
          </p:cNvSpPr>
          <p:nvPr>
            <p:ph type="title"/>
          </p:nvPr>
        </p:nvSpPr>
        <p:spPr/>
        <p:txBody>
          <a:bodyPr/>
          <a:lstStyle/>
          <a:p>
            <a:r>
              <a:rPr lang="en-US" dirty="0" err="1"/>
              <a:t>Busi’s</a:t>
            </a:r>
            <a:r>
              <a:rPr lang="en-US" dirty="0"/>
              <a:t> Conner Coffee shop Analysis</a:t>
            </a:r>
            <a:endParaRPr lang="en-ZA" dirty="0"/>
          </a:p>
        </p:txBody>
      </p:sp>
      <p:sp>
        <p:nvSpPr>
          <p:cNvPr id="3" name="Content Placeholder 2">
            <a:extLst>
              <a:ext uri="{FF2B5EF4-FFF2-40B4-BE49-F238E27FC236}">
                <a16:creationId xmlns:a16="http://schemas.microsoft.com/office/drawing/2014/main" id="{AC4435CF-A4B1-4AA4-AE4D-A7854D25AD05}"/>
              </a:ext>
            </a:extLst>
          </p:cNvPr>
          <p:cNvSpPr>
            <a:spLocks noGrp="1"/>
          </p:cNvSpPr>
          <p:nvPr>
            <p:ph idx="1"/>
          </p:nvPr>
        </p:nvSpPr>
        <p:spPr/>
        <p:txBody>
          <a:bodyPr/>
          <a:lstStyle/>
          <a:p>
            <a:endParaRPr lang="en-US" sz="1800" dirty="0"/>
          </a:p>
          <a:p>
            <a:r>
              <a:rPr lang="en-US" sz="1800" dirty="0"/>
              <a:t>Introduction &amp; Background</a:t>
            </a:r>
          </a:p>
          <a:p>
            <a:r>
              <a:rPr lang="en-US" sz="1800" dirty="0"/>
              <a:t>Analysis </a:t>
            </a:r>
          </a:p>
          <a:p>
            <a:r>
              <a:rPr lang="en-US" sz="1800" dirty="0"/>
              <a:t>Opportunities Identified</a:t>
            </a:r>
          </a:p>
          <a:p>
            <a:r>
              <a:rPr lang="en-US" sz="1800" dirty="0"/>
              <a:t>Promotions &amp; Combo</a:t>
            </a:r>
          </a:p>
          <a:p>
            <a:r>
              <a:rPr lang="en-US" sz="1800" dirty="0"/>
              <a:t>Way-forward  &amp; Conclusion </a:t>
            </a:r>
          </a:p>
          <a:p>
            <a:pPr marL="0" indent="0">
              <a:buNone/>
            </a:pPr>
            <a:endParaRPr lang="en-ZA" dirty="0"/>
          </a:p>
        </p:txBody>
      </p:sp>
    </p:spTree>
    <p:extLst>
      <p:ext uri="{BB962C8B-B14F-4D97-AF65-F5344CB8AC3E}">
        <p14:creationId xmlns:p14="http://schemas.microsoft.com/office/powerpoint/2010/main" val="3404115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90699-87FA-4032-91CF-5DFA260D7014}"/>
              </a:ext>
            </a:extLst>
          </p:cNvPr>
          <p:cNvSpPr>
            <a:spLocks noGrp="1"/>
          </p:cNvSpPr>
          <p:nvPr>
            <p:ph type="title"/>
          </p:nvPr>
        </p:nvSpPr>
        <p:spPr/>
        <p:txBody>
          <a:bodyPr>
            <a:normAutofit fontScale="90000"/>
          </a:bodyPr>
          <a:lstStyle/>
          <a:p>
            <a:r>
              <a:rPr lang="en-US" dirty="0" err="1"/>
              <a:t>Busi’s</a:t>
            </a:r>
            <a:r>
              <a:rPr lang="en-US" dirty="0"/>
              <a:t> Conner Coffee shop Analysis</a:t>
            </a:r>
            <a:br>
              <a:rPr lang="en-US" dirty="0"/>
            </a:br>
            <a:r>
              <a:rPr lang="en-US" sz="2000" dirty="0"/>
              <a:t>Our primary findings indicate that mornings and weekends are the busiest. There’s great opportunity to run promotions such as breakfast combos to strategically aim for higher sales volumes.</a:t>
            </a:r>
            <a:endParaRPr lang="en-ZA" sz="2000" dirty="0"/>
          </a:p>
        </p:txBody>
      </p:sp>
      <p:pic>
        <p:nvPicPr>
          <p:cNvPr id="7" name="Content Placeholder 6">
            <a:extLst>
              <a:ext uri="{FF2B5EF4-FFF2-40B4-BE49-F238E27FC236}">
                <a16:creationId xmlns:a16="http://schemas.microsoft.com/office/drawing/2014/main" id="{585A2587-1DF3-48CC-A872-8292AB8F842F}"/>
              </a:ext>
            </a:extLst>
          </p:cNvPr>
          <p:cNvPicPr>
            <a:picLocks noGrp="1" noChangeAspect="1"/>
          </p:cNvPicPr>
          <p:nvPr>
            <p:ph idx="1"/>
          </p:nvPr>
        </p:nvPicPr>
        <p:blipFill>
          <a:blip r:embed="rId2"/>
          <a:stretch>
            <a:fillRect/>
          </a:stretch>
        </p:blipFill>
        <p:spPr>
          <a:xfrm>
            <a:off x="1091223" y="2466052"/>
            <a:ext cx="5331359" cy="2865368"/>
          </a:xfrm>
          <a:prstGeom prst="rect">
            <a:avLst/>
          </a:prstGeom>
        </p:spPr>
      </p:pic>
      <p:pic>
        <p:nvPicPr>
          <p:cNvPr id="8" name="Picture 7">
            <a:extLst>
              <a:ext uri="{FF2B5EF4-FFF2-40B4-BE49-F238E27FC236}">
                <a16:creationId xmlns:a16="http://schemas.microsoft.com/office/drawing/2014/main" id="{904F1F70-B34B-4CF6-929D-FDF8DC7409CA}"/>
              </a:ext>
            </a:extLst>
          </p:cNvPr>
          <p:cNvPicPr>
            <a:picLocks noChangeAspect="1"/>
          </p:cNvPicPr>
          <p:nvPr/>
        </p:nvPicPr>
        <p:blipFill>
          <a:blip r:embed="rId3"/>
          <a:stretch>
            <a:fillRect/>
          </a:stretch>
        </p:blipFill>
        <p:spPr>
          <a:xfrm>
            <a:off x="6422582" y="2466052"/>
            <a:ext cx="5121084" cy="2865368"/>
          </a:xfrm>
          <a:prstGeom prst="rect">
            <a:avLst/>
          </a:prstGeom>
        </p:spPr>
      </p:pic>
      <p:sp>
        <p:nvSpPr>
          <p:cNvPr id="9" name="Rectangle 8">
            <a:extLst>
              <a:ext uri="{FF2B5EF4-FFF2-40B4-BE49-F238E27FC236}">
                <a16:creationId xmlns:a16="http://schemas.microsoft.com/office/drawing/2014/main" id="{F58A4FD3-C056-4834-8C7B-7E4D34AE7B85}"/>
              </a:ext>
            </a:extLst>
          </p:cNvPr>
          <p:cNvSpPr/>
          <p:nvPr/>
        </p:nvSpPr>
        <p:spPr>
          <a:xfrm>
            <a:off x="5426586" y="3244334"/>
            <a:ext cx="242374" cy="369332"/>
          </a:xfrm>
          <a:prstGeom prst="rect">
            <a:avLst/>
          </a:prstGeom>
        </p:spPr>
        <p:txBody>
          <a:bodyPr wrap="none">
            <a:spAutoFit/>
          </a:bodyPr>
          <a:lstStyle/>
          <a:p>
            <a:r>
              <a:rPr lang="en-ZA" dirty="0"/>
              <a:t> </a:t>
            </a:r>
          </a:p>
        </p:txBody>
      </p:sp>
    </p:spTree>
    <p:extLst>
      <p:ext uri="{BB962C8B-B14F-4D97-AF65-F5344CB8AC3E}">
        <p14:creationId xmlns:p14="http://schemas.microsoft.com/office/powerpoint/2010/main" val="1954438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6FD913-2707-4CFE-9EC5-31BE29278357}"/>
              </a:ext>
            </a:extLst>
          </p:cNvPr>
          <p:cNvPicPr>
            <a:picLocks noChangeAspect="1"/>
          </p:cNvPicPr>
          <p:nvPr/>
        </p:nvPicPr>
        <p:blipFill>
          <a:blip r:embed="rId2"/>
          <a:stretch>
            <a:fillRect/>
          </a:stretch>
        </p:blipFill>
        <p:spPr>
          <a:xfrm>
            <a:off x="1303868" y="1026882"/>
            <a:ext cx="5121084" cy="2865368"/>
          </a:xfrm>
          <a:prstGeom prst="rect">
            <a:avLst/>
          </a:prstGeom>
        </p:spPr>
      </p:pic>
      <p:pic>
        <p:nvPicPr>
          <p:cNvPr id="5" name="Picture 4">
            <a:extLst>
              <a:ext uri="{FF2B5EF4-FFF2-40B4-BE49-F238E27FC236}">
                <a16:creationId xmlns:a16="http://schemas.microsoft.com/office/drawing/2014/main" id="{9D94A879-5A37-4FF3-948E-1989A0EB619A}"/>
              </a:ext>
            </a:extLst>
          </p:cNvPr>
          <p:cNvPicPr>
            <a:picLocks noChangeAspect="1"/>
          </p:cNvPicPr>
          <p:nvPr/>
        </p:nvPicPr>
        <p:blipFill>
          <a:blip r:embed="rId3"/>
          <a:stretch>
            <a:fillRect/>
          </a:stretch>
        </p:blipFill>
        <p:spPr>
          <a:xfrm>
            <a:off x="6424952" y="1026882"/>
            <a:ext cx="4463180" cy="2766185"/>
          </a:xfrm>
          <a:prstGeom prst="rect">
            <a:avLst/>
          </a:prstGeom>
        </p:spPr>
      </p:pic>
      <p:sp>
        <p:nvSpPr>
          <p:cNvPr id="2" name="Title 1">
            <a:extLst>
              <a:ext uri="{FF2B5EF4-FFF2-40B4-BE49-F238E27FC236}">
                <a16:creationId xmlns:a16="http://schemas.microsoft.com/office/drawing/2014/main" id="{ED4972D6-6BD6-41AB-945E-A13CC54A4D4B}"/>
              </a:ext>
            </a:extLst>
          </p:cNvPr>
          <p:cNvSpPr>
            <a:spLocks noGrp="1"/>
          </p:cNvSpPr>
          <p:nvPr>
            <p:ph type="title"/>
          </p:nvPr>
        </p:nvSpPr>
        <p:spPr/>
        <p:txBody>
          <a:bodyPr>
            <a:normAutofit/>
          </a:bodyPr>
          <a:lstStyle/>
          <a:p>
            <a:r>
              <a:rPr lang="en-US" u="sng" dirty="0"/>
              <a:t> </a:t>
            </a:r>
            <a:endParaRPr lang="en-ZA" u="sng" dirty="0"/>
          </a:p>
        </p:txBody>
      </p:sp>
      <p:sp>
        <p:nvSpPr>
          <p:cNvPr id="3" name="Text Placeholder 2">
            <a:extLst>
              <a:ext uri="{FF2B5EF4-FFF2-40B4-BE49-F238E27FC236}">
                <a16:creationId xmlns:a16="http://schemas.microsoft.com/office/drawing/2014/main" id="{06F2EEC5-0F6B-4EF0-A5F5-EB186CC41DAA}"/>
              </a:ext>
            </a:extLst>
          </p:cNvPr>
          <p:cNvSpPr>
            <a:spLocks noGrp="1"/>
          </p:cNvSpPr>
          <p:nvPr>
            <p:ph type="body" idx="1"/>
          </p:nvPr>
        </p:nvSpPr>
        <p:spPr/>
        <p:txBody>
          <a:bodyPr>
            <a:normAutofit/>
          </a:bodyPr>
          <a:lstStyle/>
          <a:p>
            <a:r>
              <a:rPr lang="en-US" sz="1800" dirty="0"/>
              <a:t>Cappuccino, Americano, and Latte make up the bulk of sales Muffins and croissants sell well when paired with coffee Cold beverages underperform outside summer months Few menu items contribute less than 5% of total sales . If we focus on promoting top performers with combo deals while reviewing low selling items that might add little value to the menu.</a:t>
            </a:r>
            <a:endParaRPr lang="en-ZA" sz="1800" dirty="0"/>
          </a:p>
        </p:txBody>
      </p:sp>
    </p:spTree>
    <p:extLst>
      <p:ext uri="{BB962C8B-B14F-4D97-AF65-F5344CB8AC3E}">
        <p14:creationId xmlns:p14="http://schemas.microsoft.com/office/powerpoint/2010/main" val="1593390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E4092C-EE53-45F0-9B77-B70DCCE60CB8}"/>
              </a:ext>
            </a:extLst>
          </p:cNvPr>
          <p:cNvPicPr>
            <a:picLocks noChangeAspect="1"/>
          </p:cNvPicPr>
          <p:nvPr/>
        </p:nvPicPr>
        <p:blipFill>
          <a:blip r:embed="rId2"/>
          <a:stretch>
            <a:fillRect/>
          </a:stretch>
        </p:blipFill>
        <p:spPr>
          <a:xfrm>
            <a:off x="1303868" y="982132"/>
            <a:ext cx="4628420" cy="2954867"/>
          </a:xfrm>
          <a:prstGeom prst="rect">
            <a:avLst/>
          </a:prstGeom>
        </p:spPr>
      </p:pic>
      <p:sp>
        <p:nvSpPr>
          <p:cNvPr id="2" name="Title 1">
            <a:extLst>
              <a:ext uri="{FF2B5EF4-FFF2-40B4-BE49-F238E27FC236}">
                <a16:creationId xmlns:a16="http://schemas.microsoft.com/office/drawing/2014/main" id="{E58E65BD-064F-41D9-9613-4632319BB1F6}"/>
              </a:ext>
            </a:extLst>
          </p:cNvPr>
          <p:cNvSpPr>
            <a:spLocks noGrp="1"/>
          </p:cNvSpPr>
          <p:nvPr>
            <p:ph type="title"/>
          </p:nvPr>
        </p:nvSpPr>
        <p:spPr/>
        <p:txBody>
          <a:bodyPr/>
          <a:lstStyle/>
          <a:p>
            <a:r>
              <a:rPr lang="en-US" dirty="0"/>
              <a:t>  </a:t>
            </a:r>
            <a:endParaRPr lang="en-ZA" dirty="0"/>
          </a:p>
        </p:txBody>
      </p:sp>
      <p:sp>
        <p:nvSpPr>
          <p:cNvPr id="3" name="Text Placeholder 2">
            <a:extLst>
              <a:ext uri="{FF2B5EF4-FFF2-40B4-BE49-F238E27FC236}">
                <a16:creationId xmlns:a16="http://schemas.microsoft.com/office/drawing/2014/main" id="{DFADA8BD-E789-49A5-8DBC-2CC24B359542}"/>
              </a:ext>
            </a:extLst>
          </p:cNvPr>
          <p:cNvSpPr>
            <a:spLocks noGrp="1"/>
          </p:cNvSpPr>
          <p:nvPr>
            <p:ph type="body" idx="1"/>
          </p:nvPr>
        </p:nvSpPr>
        <p:spPr/>
        <p:txBody>
          <a:bodyPr>
            <a:normAutofit/>
          </a:bodyPr>
          <a:lstStyle/>
          <a:p>
            <a:r>
              <a:rPr lang="en-US" sz="1800" dirty="0"/>
              <a:t>Repeat customers are our core strength around 20% of customers account for over 60% of total sales            average spend per customer is rising gradually digital payments and card usage are increasing showing loyalty and convenience preference opportunity to build personalized offers for frequent buyers. A loyalty rewards program or prepaid coffee card could strengthen retention and boost customer lifetime value.</a:t>
            </a:r>
            <a:endParaRPr lang="en-ZA" sz="1800" dirty="0"/>
          </a:p>
        </p:txBody>
      </p:sp>
      <p:pic>
        <p:nvPicPr>
          <p:cNvPr id="5" name="Picture 4">
            <a:extLst>
              <a:ext uri="{FF2B5EF4-FFF2-40B4-BE49-F238E27FC236}">
                <a16:creationId xmlns:a16="http://schemas.microsoft.com/office/drawing/2014/main" id="{D0993EE3-A7D2-4C40-BDCE-D34DAC6E049C}"/>
              </a:ext>
            </a:extLst>
          </p:cNvPr>
          <p:cNvPicPr>
            <a:picLocks noChangeAspect="1"/>
          </p:cNvPicPr>
          <p:nvPr/>
        </p:nvPicPr>
        <p:blipFill>
          <a:blip r:embed="rId3"/>
          <a:stretch>
            <a:fillRect/>
          </a:stretch>
        </p:blipFill>
        <p:spPr>
          <a:xfrm>
            <a:off x="5932289" y="946172"/>
            <a:ext cx="4901716" cy="2946245"/>
          </a:xfrm>
          <a:prstGeom prst="rect">
            <a:avLst/>
          </a:prstGeom>
        </p:spPr>
      </p:pic>
    </p:spTree>
    <p:extLst>
      <p:ext uri="{BB962C8B-B14F-4D97-AF65-F5344CB8AC3E}">
        <p14:creationId xmlns:p14="http://schemas.microsoft.com/office/powerpoint/2010/main" val="737574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7E0B4-35BD-4365-AE6D-3A133B291595}"/>
              </a:ext>
            </a:extLst>
          </p:cNvPr>
          <p:cNvSpPr>
            <a:spLocks noGrp="1"/>
          </p:cNvSpPr>
          <p:nvPr>
            <p:ph type="title"/>
          </p:nvPr>
        </p:nvSpPr>
        <p:spPr/>
        <p:txBody>
          <a:bodyPr/>
          <a:lstStyle/>
          <a:p>
            <a:r>
              <a:rPr lang="en-US" dirty="0" err="1"/>
              <a:t>Busi’s</a:t>
            </a:r>
            <a:r>
              <a:rPr lang="en-US" dirty="0"/>
              <a:t> Conner Coffee shop Analysis</a:t>
            </a:r>
            <a:endParaRPr lang="en-ZA" dirty="0"/>
          </a:p>
        </p:txBody>
      </p:sp>
      <p:sp>
        <p:nvSpPr>
          <p:cNvPr id="3" name="Content Placeholder 2">
            <a:extLst>
              <a:ext uri="{FF2B5EF4-FFF2-40B4-BE49-F238E27FC236}">
                <a16:creationId xmlns:a16="http://schemas.microsoft.com/office/drawing/2014/main" id="{E1A62EAB-7969-4F72-928E-E0AD5B9263CD}"/>
              </a:ext>
            </a:extLst>
          </p:cNvPr>
          <p:cNvSpPr>
            <a:spLocks noGrp="1"/>
          </p:cNvSpPr>
          <p:nvPr>
            <p:ph idx="1"/>
          </p:nvPr>
        </p:nvSpPr>
        <p:spPr/>
        <p:txBody>
          <a:bodyPr>
            <a:normAutofit/>
          </a:bodyPr>
          <a:lstStyle/>
          <a:p>
            <a:pPr marL="0" indent="0">
              <a:buNone/>
            </a:pPr>
            <a:r>
              <a:rPr lang="en-US" sz="1800" dirty="0"/>
              <a:t>Pricing &amp; profitability headline</a:t>
            </a:r>
          </a:p>
          <a:p>
            <a:pPr marL="0" indent="0">
              <a:buNone/>
            </a:pPr>
            <a:r>
              <a:rPr lang="en-US" sz="1800" dirty="0"/>
              <a:t>Small pricing adjustments can often drive significant gains premium coffees have steady demand, low price sensitivity combos and discounts sometimes increased volume but reduced profit margin. Food margins are tighter compared to beverages Average transaction value can increase through smart upselling A 5% increase in premium coffee prices and a “coffee + muffin” combo could raise monthly revenue by an estimated 6–8%.</a:t>
            </a:r>
            <a:endParaRPr lang="en-ZA" sz="1800" dirty="0"/>
          </a:p>
        </p:txBody>
      </p:sp>
    </p:spTree>
    <p:extLst>
      <p:ext uri="{BB962C8B-B14F-4D97-AF65-F5344CB8AC3E}">
        <p14:creationId xmlns:p14="http://schemas.microsoft.com/office/powerpoint/2010/main" val="735100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25881-4660-42B0-9830-2E383DD9675B}"/>
              </a:ext>
            </a:extLst>
          </p:cNvPr>
          <p:cNvSpPr>
            <a:spLocks noGrp="1"/>
          </p:cNvSpPr>
          <p:nvPr>
            <p:ph type="title"/>
          </p:nvPr>
        </p:nvSpPr>
        <p:spPr/>
        <p:txBody>
          <a:bodyPr/>
          <a:lstStyle/>
          <a:p>
            <a:r>
              <a:rPr lang="en-US" dirty="0" err="1"/>
              <a:t>Busi’s</a:t>
            </a:r>
            <a:r>
              <a:rPr lang="en-US" dirty="0"/>
              <a:t> Conner Coffee shop Analysis</a:t>
            </a:r>
            <a:endParaRPr lang="en-ZA" dirty="0"/>
          </a:p>
        </p:txBody>
      </p:sp>
      <p:sp>
        <p:nvSpPr>
          <p:cNvPr id="3" name="Content Placeholder 2">
            <a:extLst>
              <a:ext uri="{FF2B5EF4-FFF2-40B4-BE49-F238E27FC236}">
                <a16:creationId xmlns:a16="http://schemas.microsoft.com/office/drawing/2014/main" id="{93DEA548-A3FC-47EB-A9E0-949D458D7E8E}"/>
              </a:ext>
            </a:extLst>
          </p:cNvPr>
          <p:cNvSpPr>
            <a:spLocks noGrp="1"/>
          </p:cNvSpPr>
          <p:nvPr>
            <p:ph idx="1"/>
          </p:nvPr>
        </p:nvSpPr>
        <p:spPr/>
        <p:txBody>
          <a:bodyPr>
            <a:normAutofit/>
          </a:bodyPr>
          <a:lstStyle/>
          <a:p>
            <a:pPr marL="0" indent="0">
              <a:buNone/>
            </a:pPr>
            <a:r>
              <a:rPr lang="en-US" sz="1800" dirty="0"/>
              <a:t>Store Operations &amp; Efficiency Headline  </a:t>
            </a:r>
          </a:p>
          <a:p>
            <a:pPr marL="0" indent="0">
              <a:buNone/>
            </a:pPr>
            <a:r>
              <a:rPr lang="en-US" sz="1800" dirty="0"/>
              <a:t>Operational timing can assist in creating  higher sales morning hours (7–10 AM) handle nearly 60% of all transactions afternoon dips indicate potential to run light promotions Staff deployment not fully aligned with sales peaks queue times increase slightly during busy periods insight adjusting staff schedules and prepping for morning surges can improve service speed and enhance customer experience.</a:t>
            </a:r>
            <a:endParaRPr lang="en-ZA" sz="1800" dirty="0"/>
          </a:p>
        </p:txBody>
      </p:sp>
    </p:spTree>
    <p:extLst>
      <p:ext uri="{BB962C8B-B14F-4D97-AF65-F5344CB8AC3E}">
        <p14:creationId xmlns:p14="http://schemas.microsoft.com/office/powerpoint/2010/main" val="3948469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1A5B8-DFB9-4404-B501-F824F6BF1D7C}"/>
              </a:ext>
            </a:extLst>
          </p:cNvPr>
          <p:cNvSpPr>
            <a:spLocks noGrp="1"/>
          </p:cNvSpPr>
          <p:nvPr>
            <p:ph type="title"/>
          </p:nvPr>
        </p:nvSpPr>
        <p:spPr/>
        <p:txBody>
          <a:bodyPr/>
          <a:lstStyle/>
          <a:p>
            <a:r>
              <a:rPr lang="en-US" dirty="0" err="1"/>
              <a:t>Busi’s</a:t>
            </a:r>
            <a:r>
              <a:rPr lang="en-US" dirty="0"/>
              <a:t> Conner Coffee shop Analysis</a:t>
            </a:r>
            <a:endParaRPr lang="en-ZA" dirty="0"/>
          </a:p>
        </p:txBody>
      </p:sp>
      <p:sp>
        <p:nvSpPr>
          <p:cNvPr id="3" name="Content Placeholder 2">
            <a:extLst>
              <a:ext uri="{FF2B5EF4-FFF2-40B4-BE49-F238E27FC236}">
                <a16:creationId xmlns:a16="http://schemas.microsoft.com/office/drawing/2014/main" id="{75DF0128-9639-4D15-A938-D91AD73A925A}"/>
              </a:ext>
            </a:extLst>
          </p:cNvPr>
          <p:cNvSpPr>
            <a:spLocks noGrp="1"/>
          </p:cNvSpPr>
          <p:nvPr>
            <p:ph idx="1"/>
          </p:nvPr>
        </p:nvSpPr>
        <p:spPr/>
        <p:txBody>
          <a:bodyPr>
            <a:normAutofit/>
          </a:bodyPr>
          <a:lstStyle/>
          <a:p>
            <a:r>
              <a:rPr lang="en-US" sz="1800" dirty="0"/>
              <a:t>The way forward headline  setting the direction for sustainable growth Short-Term (Next 3 Months):</a:t>
            </a:r>
          </a:p>
          <a:p>
            <a:r>
              <a:rPr lang="en-US" sz="1800" dirty="0"/>
              <a:t>Introduce breakfast combo promotions during peak hours align staff and stock levels to sales trends launch a simple loyalty system to track repeat customers medium-Term (6–12 Months):</a:t>
            </a:r>
          </a:p>
          <a:p>
            <a:r>
              <a:rPr lang="en-US" sz="1800" dirty="0"/>
              <a:t>Add seasonal drinks to attract repeat visits use sales already existing sales data to forecast and manage inventory better Pilot a subscription coffee service for regulars Long-Term (Beyond 12 Months) expand to close locations with similar demand patterns build a data-driven dashboard to monitor daily performance Strengthen brand positioning around consistency and convenience </a:t>
            </a:r>
          </a:p>
          <a:p>
            <a:r>
              <a:rPr lang="en-US" sz="1800" dirty="0"/>
              <a:t>The coffee shop already has a loyal base and strong products the next phase is about refining operations, pricing smartly, and deepening customer loyalty.</a:t>
            </a:r>
            <a:endParaRPr lang="en-ZA" sz="1800" dirty="0"/>
          </a:p>
        </p:txBody>
      </p:sp>
    </p:spTree>
    <p:extLst>
      <p:ext uri="{BB962C8B-B14F-4D97-AF65-F5344CB8AC3E}">
        <p14:creationId xmlns:p14="http://schemas.microsoft.com/office/powerpoint/2010/main" val="246165943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1382</TotalTime>
  <Words>478</Words>
  <Application>Microsoft Office PowerPoint</Application>
  <PresentationFormat>Widescreen</PresentationFormat>
  <Paragraphs>26</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Garamond</vt:lpstr>
      <vt:lpstr>Organic</vt:lpstr>
      <vt:lpstr>Busi’s Conner Coffee shop </vt:lpstr>
      <vt:lpstr>Busi’s Conner Coffee shop Analysis</vt:lpstr>
      <vt:lpstr>Busi’s Conner Coffee shop Analysis Our primary findings indicate that mornings and weekends are the busiest. There’s great opportunity to run promotions such as breakfast combos to strategically aim for higher sales volumes.</vt:lpstr>
      <vt:lpstr> </vt:lpstr>
      <vt:lpstr>  </vt:lpstr>
      <vt:lpstr>Busi’s Conner Coffee shop Analysis</vt:lpstr>
      <vt:lpstr>Busi’s Conner Coffee shop Analysis</vt:lpstr>
      <vt:lpstr>Busi’s Conner Coffee shop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 Conner Coffee shop</dc:title>
  <dc:creator>NOLAN</dc:creator>
  <cp:lastModifiedBy>NOLAN</cp:lastModifiedBy>
  <cp:revision>18</cp:revision>
  <dcterms:created xsi:type="dcterms:W3CDTF">2025-10-29T19:45:01Z</dcterms:created>
  <dcterms:modified xsi:type="dcterms:W3CDTF">2025-11-01T08:03:04Z</dcterms:modified>
</cp:coreProperties>
</file>